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řina Barnová" userId="ce8c76cd-8657-4590-9cf0-1f328a491c5b" providerId="ADAL" clId="{B9558DB0-CD02-4111-8F87-874F4E214518}"/>
    <pc:docChg chg="delSld">
      <pc:chgData name="Kateřina Barnová" userId="ce8c76cd-8657-4590-9cf0-1f328a491c5b" providerId="ADAL" clId="{B9558DB0-CD02-4111-8F87-874F4E214518}" dt="2026-05-06T18:07:58.396" v="0" actId="47"/>
      <pc:docMkLst>
        <pc:docMk/>
      </pc:docMkLst>
      <pc:sldChg chg="del">
        <pc:chgData name="Kateřina Barnová" userId="ce8c76cd-8657-4590-9cf0-1f328a491c5b" providerId="ADAL" clId="{B9558DB0-CD02-4111-8F87-874F4E214518}" dt="2026-05-06T18:07:58.396" v="0" actId="47"/>
        <pc:sldMkLst>
          <pc:docMk/>
          <pc:sldMk cId="2451479418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4C02A6-C6FD-B1A4-6311-3634386FD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A39AFCD-D5EF-CE42-360A-6A7BE81DF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7DC0A7-73B2-1711-ADAC-6534CC77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CA5329F-281E-0744-3BD6-228F67A6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83A23D-E86D-9FA1-46EB-84F36BAB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20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D982E1-3C7A-AE56-B41E-A459EB0A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CBAAB6-6CDA-2984-2D93-0BBD0064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7CF78BD-5C64-A423-6D86-CA3ED271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E893411-7005-BBE2-C920-11DCBD0D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B7A93A3-2D0C-77AD-5666-F4C4AF30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771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E22D7E-E7C9-2A81-C6A8-43A6458D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589669-47EE-3073-9EC9-4F5036663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86FD42-8B33-2F86-BFBD-D259928F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6E0AE43-E91D-71E8-1CC8-4ED3224E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17186BB-343B-169D-6A8E-B484DA33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806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29A738-D519-2AF1-1FCE-92244A21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BDA128-F87E-70E7-1CB5-DC95734B9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9E454BB-E22E-25FD-F987-A6CC1FA7D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31859F4-6C61-EEE3-4E03-FB75ADC6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1EA43E7-7FDC-3992-D7E6-191EE89C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CE30408-0DEE-06D3-C8BA-94F40594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475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3D45ED-18B9-231C-E5A2-629B32A1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B7F6D4-30A2-F07E-4AAD-2FE9867FE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F5F7557-E618-9529-476F-E28FC2E55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A5D569B-94CA-13F6-6948-D94E39E6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EDBF989-FB6D-117F-FB33-C7DAC22EE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8842FBB-04BD-36C0-43EB-53AB5EB5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DEEABF0-DA58-FDDC-525D-AFC65999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7639AC6-9F40-024D-40A8-874C19DB5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10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7773B4-A51E-0239-AC02-50364486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21093B1-192C-6CD4-C698-C69FB313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B0AC9C0-1A21-79DC-E23A-31E4FFB0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2539A94-336D-CB13-2A02-46DD9879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933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8593EA8-7978-A980-6210-DD24C65B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FFD463E-8AA2-C1CB-E761-13641AD6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6739CD2-DDEA-5FD6-CE8E-1444B6A8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571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3EC937-0F1E-CD02-6416-75140A454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4DEE592-CD6D-23B4-8EB4-F40A2DE5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C03071B-3289-BFB5-72D2-306A1BEC4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6EB55BB-F6C4-0F70-C526-BEF7D0C9B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A30AADE-9C0C-9465-E6C7-9D3C00FE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1EE9C38-0094-6BFD-0665-2DECDA8F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12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894CD2-CBE8-A151-29D6-9C21433C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00250A8-D766-7728-C4A1-678B8BDF0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EAE1A9A-E2FA-C909-7917-0021A0E7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78A3988-4A3D-8B84-2096-305136FC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8024B6E-41E7-CCFB-0899-98AEF25A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A519A67-DE4F-FD9B-FFE0-4B73B95A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572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15268C-276C-9D40-4082-FF9C2F60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42E12BD-8EED-D880-0D51-EA3131133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C302C5-0F1F-A517-48CB-139447F1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B192F1C-CE57-C5B9-3ED6-6C898424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DC4536-1998-EBC0-5E67-07F0B6C3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8588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94755E4-B7FF-7734-3FF8-813C7F741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371A3C4-4559-D5B8-8F6F-B23B11EF0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321B37-4851-AD6C-1E39-D427F1FF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3D2311B-3492-4DBC-40D8-B6C17CF3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0E3144-16B2-7D3E-E3F0-9161F094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688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D435B49-9B31-6081-EE47-374D9D00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3A815C3-A7D3-22F4-D5EF-5703B1E99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770342-2534-8C8F-5B92-01C7841C9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06698-C72E-4C80-AB46-8B876278C183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F6C542-712E-C0BA-9A0D-0A1EC99EE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673A9E0-A9BA-3379-E6CB-8D181BBE4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C9C32-1178-4094-957F-4A1FF0C3817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5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57A571-C564-1315-6BF0-733B973925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Digitální průvodce léčbou karcinomu prostaty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FF9E22F-DD42-9E92-7FA8-835E14C62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MUDr. Zuzana Čermáková, Ph.D.</a:t>
            </a:r>
          </a:p>
          <a:p>
            <a:r>
              <a:rPr lang="cs-CZ" dirty="0"/>
              <a:t>Fakultní nemocnice Ostrava</a:t>
            </a:r>
          </a:p>
          <a:p>
            <a:r>
              <a:rPr lang="cs-CZ" dirty="0"/>
              <a:t>Onkologická klinika</a:t>
            </a:r>
          </a:p>
        </p:txBody>
      </p:sp>
    </p:spTree>
    <p:extLst>
      <p:ext uri="{BB962C8B-B14F-4D97-AF65-F5344CB8AC3E}">
        <p14:creationId xmlns:p14="http://schemas.microsoft.com/office/powerpoint/2010/main" val="155711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DC127A-8725-7E1D-2CE5-A8D16654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Problém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B930AD-1ABF-7D3F-DC7F-55382459A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400 nových pacientů ročně </a:t>
            </a:r>
          </a:p>
          <a:p>
            <a:pPr>
              <a:lnSpc>
                <a:spcPct val="150000"/>
              </a:lnSpc>
            </a:pPr>
            <a:r>
              <a:rPr lang="cs-CZ" dirty="0"/>
              <a:t>pacienti a rodiny dostávají informace ústně a papírově </a:t>
            </a:r>
          </a:p>
          <a:p>
            <a:pPr>
              <a:lnSpc>
                <a:spcPct val="150000"/>
              </a:lnSpc>
            </a:pPr>
            <a:r>
              <a:rPr lang="cs-CZ" dirty="0"/>
              <a:t>většinou až při vstupním vyšetření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8385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B35AA0-9ABE-6313-6089-DF0E00B3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Řešení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92C467-685B-1730-0504-BBD5AC9CA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jednoduchý digitální online průvodce</a:t>
            </a:r>
          </a:p>
          <a:p>
            <a:pPr>
              <a:lnSpc>
                <a:spcPct val="150000"/>
              </a:lnSpc>
            </a:pPr>
            <a:r>
              <a:rPr lang="cs-CZ" dirty="0"/>
              <a:t>odkaz/ QR kód na stránku</a:t>
            </a:r>
          </a:p>
          <a:p>
            <a:pPr>
              <a:lnSpc>
                <a:spcPct val="150000"/>
              </a:lnSpc>
            </a:pPr>
            <a:r>
              <a:rPr lang="cs-CZ" dirty="0"/>
              <a:t>přehled kroků a základních informací dle typu léčby</a:t>
            </a:r>
          </a:p>
          <a:p>
            <a:pPr>
              <a:lnSpc>
                <a:spcPct val="150000"/>
              </a:lnSpc>
            </a:pPr>
            <a:r>
              <a:rPr lang="cs-CZ" dirty="0"/>
              <a:t>odkaz bude k dispozici v rámci lékařské zprávy odesílajícího pracoviště</a:t>
            </a:r>
          </a:p>
          <a:p>
            <a:pPr>
              <a:lnSpc>
                <a:spcPct val="150000"/>
              </a:lnSpc>
            </a:pPr>
            <a:r>
              <a:rPr lang="cs-CZ" dirty="0"/>
              <a:t>pacient přijde poučen již ke vstupnímu vyšetření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1712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A60E30-E6D2-8F8B-E404-40905101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Přínos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B51D43-A9C5-748B-DC8F-17B960A8D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lepší orientace pacienta </a:t>
            </a:r>
            <a:r>
              <a:rPr lang="cs-CZ"/>
              <a:t>i rodiny</a:t>
            </a:r>
          </a:p>
          <a:p>
            <a:pPr>
              <a:lnSpc>
                <a:spcPct val="150000"/>
              </a:lnSpc>
            </a:pPr>
            <a:r>
              <a:rPr lang="cs-CZ" dirty="0"/>
              <a:t>snížení stresu</a:t>
            </a:r>
          </a:p>
          <a:p>
            <a:pPr>
              <a:lnSpc>
                <a:spcPct val="150000"/>
              </a:lnSpc>
            </a:pPr>
            <a:r>
              <a:rPr lang="cs-CZ" dirty="0"/>
              <a:t>usnadnění komunikace</a:t>
            </a:r>
          </a:p>
          <a:p>
            <a:pPr>
              <a:lnSpc>
                <a:spcPct val="150000"/>
              </a:lnSpc>
            </a:pPr>
            <a:r>
              <a:rPr lang="cs-CZ" dirty="0"/>
              <a:t>úspora času personálu při prvním vyšetření i během léčby</a:t>
            </a:r>
          </a:p>
          <a:p>
            <a:pPr>
              <a:lnSpc>
                <a:spcPct val="150000"/>
              </a:lnSpc>
            </a:pPr>
            <a:r>
              <a:rPr lang="cs-CZ" dirty="0"/>
              <a:t>možnost vracet se k informacím</a:t>
            </a:r>
          </a:p>
        </p:txBody>
      </p:sp>
    </p:spTree>
    <p:extLst>
      <p:ext uri="{BB962C8B-B14F-4D97-AF65-F5344CB8AC3E}">
        <p14:creationId xmlns:p14="http://schemas.microsoft.com/office/powerpoint/2010/main" val="204573473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</Words>
  <Application>Microsoft Office PowerPoint</Application>
  <PresentationFormat>Širokoúhlá obrazovka</PresentationFormat>
  <Paragraphs>20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Motiv Office</vt:lpstr>
      <vt:lpstr>Digitální průvodce léčbou karcinomu prostaty</vt:lpstr>
      <vt:lpstr>Problém</vt:lpstr>
      <vt:lpstr>Řešení</vt:lpstr>
      <vt:lpstr>Přínos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Zuzana Čermáková</dc:creator>
  <cp:lastModifiedBy>Kateřina Barnová</cp:lastModifiedBy>
  <cp:revision>10</cp:revision>
  <dcterms:created xsi:type="dcterms:W3CDTF">2026-05-06T17:23:50Z</dcterms:created>
  <dcterms:modified xsi:type="dcterms:W3CDTF">2026-05-06T18:07:59Z</dcterms:modified>
</cp:coreProperties>
</file>